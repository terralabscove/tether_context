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65" r:id="rId24"/>
    <p:sldId id="266" r:id="rId25"/>
    <p:sldId id="262" r:id="rId21"/>
    <p:sldId id="267" r:id="rId26"/>
    <p:sldId id="268" r:id="rId27"/>
    <p:sldId id="269" r:id="rId28"/>
    <p:sldId id="270" r:id="rId29"/>
    <p:sldId id="271" r:id="rId30"/>
    <p:sldId id="272" r:id="rId31"/>
    <p:sldId id="263" r:id="rId22"/>
    <p:sldId id="273" r:id="rId32"/>
    <p:sldId id="258" r:id="rId9"/>
    <p:sldId id="274" r:id="rId33"/>
    <p:sldId id="275" r:id="rId34"/>
    <p:sldId id="276" r:id="rId35"/>
    <p:sldId id="277" r:id="rId36"/>
    <p:sldId id="261" r:id="rId12"/>
    <p:sldId id="264" r:id="rId23"/>
  </p:sldIdLst>
  <p:sldSz cy="5143500" cx="9144000"/>
  <p:notesSz cx="6858000" cy="9144000"/>
  <p:embeddedFontLst>
    <p:embeddedFont>
      <p:font typeface="Instrument Sans SemiBold"/>
      <p:regular r:id="rId13"/>
      <p:bold r:id="rId14"/>
      <p:italic r:id="rId15"/>
      <p:boldItalic r:id="rId16"/>
    </p:embeddedFont>
    <p:embeddedFont>
      <p:font typeface="Instrument Sans Medium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680485-064E-4074-8B43-816C4E496F04}">
  <a:tblStyle styleId="{5E680485-064E-4074-8B43-816C4E496F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14.xml"/><Relationship Id="rId12" Type="http://schemas.openxmlformats.org/officeDocument/2006/relationships/slide" Target="slides/slide19.xml"/><Relationship Id="rId13" Type="http://schemas.openxmlformats.org/officeDocument/2006/relationships/font" Target="fonts/InstrumentSansSemiBold-regular.fntdata"/><Relationship Id="rId14" Type="http://schemas.openxmlformats.org/officeDocument/2006/relationships/font" Target="fonts/InstrumentSansSemiBold-bold.fntdata"/><Relationship Id="rId15" Type="http://schemas.openxmlformats.org/officeDocument/2006/relationships/font" Target="fonts/InstrumentSansSemiBold-italic.fntdata"/><Relationship Id="rId16" Type="http://schemas.openxmlformats.org/officeDocument/2006/relationships/font" Target="fonts/InstrumentSansSemiBold-boldItalic.fntdata"/><Relationship Id="rId17" Type="http://schemas.openxmlformats.org/officeDocument/2006/relationships/font" Target="fonts/InstrumentSansMedium-regular.fntdata"/><Relationship Id="rId18" Type="http://schemas.openxmlformats.org/officeDocument/2006/relationships/font" Target="fonts/InstrumentSansMedium-bold.fntdata"/><Relationship Id="rId19" Type="http://schemas.openxmlformats.org/officeDocument/2006/relationships/font" Target="fonts/InstrumentSansMedium-italic.fntdata"/><Relationship Id="rId20" Type="http://schemas.openxmlformats.org/officeDocument/2006/relationships/font" Target="fonts/InstrumentSansMedium-boldItalic.fntdata"/><Relationship Id="rId21" Type="http://schemas.openxmlformats.org/officeDocument/2006/relationships/slide" Target="slides/slide5.xml"/><Relationship Id="rId22" Type="http://schemas.openxmlformats.org/officeDocument/2006/relationships/slide" Target="slides/slide12.xml"/><Relationship Id="rId23" Type="http://schemas.openxmlformats.org/officeDocument/2006/relationships/slide" Target="slides/slide20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3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2ac65d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2ac65d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21fcb86e8f6ac2c5_5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21fcb86e8f6ac2c5_5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  <p:sp>
        <p:nvSpPr>
          <p:cNvPr id="66" name="Google Shape;66;h21fcb86e8f6ac2c5_5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1fcb86e8f6ac2c5_5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21fcb86e8f6ac2c5_5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21fcb86e8f6ac2c5_5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21fcb86e8f6ac2c5_5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CDC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2242353" y="3400936"/>
            <a:ext cx="5038200" cy="946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/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/>
            </a:r>
            <a:endParaRPr sz="240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-338400" y="1278350"/>
            <a:ext cx="9625200" cy="82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8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flipH="1">
            <a:off x="-1494625" y="1359425"/>
            <a:ext cx="11503200" cy="649800"/>
          </a:xfrm>
          <a:prstGeom prst="snip1Rect">
            <a:avLst>
              <a:gd fmla="val 34491" name="adj"/>
            </a:avLst>
          </a:prstGeom>
          <a:solidFill>
            <a:srgbClr val="177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50">
                <a:solidFill>
                  <a:srgbClr val="177D82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terralabs</a:t>
            </a:r>
            <a:endParaRPr sz="3350">
              <a:solidFill>
                <a:srgbClr val="177D82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3426249" y="522475"/>
            <a:ext cx="2335500" cy="2335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950" lIns="77950" spcFirstLastPara="1" rIns="77950" wrap="square" tIns="77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4">
              <a:solidFill>
                <a:srgbClr val="FFFFFF"/>
              </a:solidFill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6144000" y="1340275"/>
            <a:ext cx="300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terra labs</a:t>
            </a:r>
            <a:endParaRPr sz="33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-103350" y="1334225"/>
            <a:ext cx="300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terra labs</a:t>
            </a:r>
            <a:endParaRPr sz="33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165150" y="3311200"/>
            <a:ext cx="5038200" cy="869100"/>
          </a:xfrm>
          <a:prstGeom prst="rect">
            <a:avLst/>
          </a:prstGeom>
          <a:solidFill>
            <a:srgbClr val="177D82"/>
          </a:solidFill>
          <a:ln cap="flat" cmpd="sng" w="28575">
            <a:solidFill>
              <a:srgbClr val="177D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Tether Kickoff</a:t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400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fall 2026 · sep 27</a:t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pic>
        <p:nvPicPr>
          <p:cNvPr id="62" name="Google Shape;62;p14" title="Screenshot 2026-06-04 at 5.35.45 PM.png"/>
          <p:cNvPicPr preferRelativeResize="0"/>
          <p:nvPr/>
        </p:nvPicPr>
        <p:blipFill rotWithShape="1">
          <a:blip r:embed="rId3">
            <a:alphaModFix/>
          </a:blip>
          <a:srcRect b="11135" l="10558" r="7212" t="10611"/>
          <a:stretch/>
        </p:blipFill>
        <p:spPr>
          <a:xfrm>
            <a:off x="3759750" y="974075"/>
            <a:ext cx="1693275" cy="14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712" y="1986715"/>
            <a:ext cx="5746575" cy="117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2888588" y="1711726"/>
            <a:ext cx="225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77D82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welcome to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today</a:t>
            </a:r>
            <a:endParaRPr sz="2020"/>
          </a:p>
        </p:txBody>
      </p:sp>
      <p:sp>
        <p:nvSpPr>
          <p:cNvPr id="81" name="TextBox 80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where this project comes from, where it's going, and how we get there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8213" y="1590038"/>
            <a:ext cx="1493752" cy="23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8213" y="171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8213" y="2640038"/>
            <a:ext cx="1373752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who we 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8213" y="304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your two PMs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04845" y="1590038"/>
            <a:ext cx="1493752" cy="23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64845" y="171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64845" y="2640038"/>
            <a:ext cx="1373752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cove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64845" y="304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7-DOF arm we built last spring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81477" y="1590038"/>
            <a:ext cx="1493752" cy="23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41477" y="171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41477" y="2640038"/>
            <a:ext cx="1373752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tether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41477" y="304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turning cove into an inchworm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58109" y="1590038"/>
            <a:ext cx="1493752" cy="23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18109" y="171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18109" y="2640038"/>
            <a:ext cx="1373752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the sim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18109" y="304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what's already built in software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34741" y="1590038"/>
            <a:ext cx="1493752" cy="23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94741" y="171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94741" y="2640038"/>
            <a:ext cx="1373752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the plan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94741" y="3040038"/>
            <a:ext cx="137375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roadmap, open questions, first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pm introductions</a:t>
            </a:r>
            <a:endParaRPr sz="2020"/>
          </a:p>
        </p:txBody>
      </p:sp>
      <p:sp>
        <p:nvSpPr>
          <p:cNvPr id="81" name="TextBox 80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two of us: one on hardware, one on software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8213" y="1590038"/>
            <a:ext cx="1925000" cy="23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03213" y="1550038"/>
            <a:ext cx="205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John Peng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03213" y="1970038"/>
            <a:ext cx="205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39AFA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hardware PM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03213" y="2370038"/>
            <a:ext cx="205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ECE sophomore at USC. worked on cove's controls: ROS 2, CAN, MIT-mode torque control, e-stop logic. leads mech + electrical on tether.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28213" y="1590038"/>
            <a:ext cx="1925000" cy="23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03213" y="1550038"/>
            <a:ext cx="205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Steve Lu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03213" y="1970038"/>
            <a:ext cx="205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39AFA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software PM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03213" y="2370038"/>
            <a:ext cx="205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leads tether's software: the sim, motion planning, and the controls stack that runs on the robot.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CDC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2242353" y="3400936"/>
            <a:ext cx="5038200" cy="946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/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/>
            </a:r>
            <a:endParaRPr sz="240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-338400" y="1278350"/>
            <a:ext cx="9625200" cy="82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8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flipH="1">
            <a:off x="-1494625" y="1359425"/>
            <a:ext cx="11503200" cy="649800"/>
          </a:xfrm>
          <a:prstGeom prst="snip1Rect">
            <a:avLst>
              <a:gd fmla="val 34491" name="adj"/>
            </a:avLst>
          </a:prstGeom>
          <a:solidFill>
            <a:srgbClr val="177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50">
                <a:solidFill>
                  <a:srgbClr val="177D82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terralabs</a:t>
            </a:r>
            <a:endParaRPr sz="3350">
              <a:solidFill>
                <a:srgbClr val="177D82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3426249" y="522475"/>
            <a:ext cx="2335500" cy="2335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950" lIns="77950" spcFirstLastPara="1" rIns="77950" wrap="square" tIns="77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4">
              <a:solidFill>
                <a:srgbClr val="FFFFFF"/>
              </a:solidFill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6144000" y="1340275"/>
            <a:ext cx="300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spring 2026</a:t>
            </a:r>
            <a:endParaRPr sz="33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-103350" y="1334225"/>
            <a:ext cx="300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cove</a:t>
            </a:r>
            <a:endParaRPr sz="33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165150" y="3311200"/>
            <a:ext cx="5038200" cy="869100"/>
          </a:xfrm>
          <a:prstGeom prst="rect">
            <a:avLst/>
          </a:prstGeom>
          <a:solidFill>
            <a:srgbClr val="177D82"/>
          </a:solidFill>
          <a:ln cap="flat" cmpd="sng" w="28575">
            <a:solidFill>
              <a:srgbClr val="177D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where we're starting</a:t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pic>
        <p:nvPicPr>
          <p:cNvPr id="62" name="Google Shape;62;p14" title="Screenshot 2026-06-04 at 5.35.45 PM.png"/>
          <p:cNvPicPr preferRelativeResize="0"/>
          <p:nvPr/>
        </p:nvPicPr>
        <p:blipFill rotWithShape="1">
          <a:blip r:embed="rId3">
            <a:alphaModFix/>
          </a:blip>
          <a:srcRect b="11135" l="10558" r="7212" t="10611"/>
          <a:stretch/>
        </p:blipFill>
        <p:spPr>
          <a:xfrm>
            <a:off x="3759750" y="974075"/>
            <a:ext cx="1693275" cy="14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cove: the goal</a:t>
            </a:r>
            <a:endParaRPr sz="2020"/>
          </a:p>
        </p:txBody>
      </p:sp>
      <p:sp>
        <p:nvSpPr>
          <p:cNvPr id="84" name="Google Shape;84;p17"/>
          <p:cNvSpPr txBox="1"/>
          <p:nvPr/>
        </p:nvSpPr>
        <p:spPr>
          <a:xfrm>
            <a:off x="52822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7 joints, Z-X-Z-X-Z-X-Z, symmetric so the same parts could become an inchworm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341200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day zero: sketch it, check reach and torque, start ordering that night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15417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target: grab the bottle, pour, release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build a 7-DOF arm from scratch that can pick up and pour a wine bottle</a:t>
            </a:r>
            <a:endParaRPr sz="1600">
              <a:solidFill>
                <a:srgbClr val="39AFA3"/>
              </a:solidFill>
            </a:endParaRPr>
          </a:p>
        </p:txBody>
      </p:sp>
      <p:pic>
        <p:nvPicPr>
          <p:cNvPr id="88" name="Picture 87" descr="demoday_s09_147_2574300_2574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1590038"/>
            <a:ext cx="2574300" cy="2574300"/>
          </a:xfrm>
          <a:prstGeom prst="rect">
            <a:avLst/>
          </a:prstGeom>
        </p:spPr>
      </p:pic>
      <p:pic>
        <p:nvPicPr>
          <p:cNvPr id="89" name="Picture 88" descr="demoday_s03_79_2574300_2574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203" y="1590038"/>
            <a:ext cx="2574300" cy="2574300"/>
          </a:xfrm>
          <a:prstGeom prst="rect">
            <a:avLst/>
          </a:prstGeom>
        </p:spPr>
      </p:pic>
      <p:pic>
        <p:nvPicPr>
          <p:cNvPr id="90" name="Picture 89" descr="living_s25_286_2574300_2574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194" y="1590038"/>
            <a:ext cx="2574300" cy="257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cove: how we built it</a:t>
            </a:r>
            <a:endParaRPr sz="2020"/>
          </a:p>
        </p:txBody>
      </p:sp>
      <p:sp>
        <p:nvSpPr>
          <p:cNvPr id="84" name="Google Shape;84;p17"/>
          <p:cNvSpPr txBox="1"/>
          <p:nvPr/>
        </p:nvSpPr>
        <p:spPr>
          <a:xfrm>
            <a:off x="52822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every part pre-sized from stress spreadsheets, then modeled in OnShape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341200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printed every part first to get fitment right. plastic is cheap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15417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 week on a 3-axis mill: 8 aluminum parts from 3 pieces of stock, $308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size it on paper → CAD → print everything → machine to aluminum</a:t>
            </a:r>
            <a:endParaRPr sz="1600">
              <a:solidFill>
                <a:srgbClr val="39AFA3"/>
              </a:solidFill>
            </a:endParaRPr>
          </a:p>
        </p:txBody>
      </p:sp>
      <p:pic>
        <p:nvPicPr>
          <p:cNvPr id="88" name="Picture 87" descr="demoday_s06_112_2574300_2574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1590038"/>
            <a:ext cx="2574300" cy="2574300"/>
          </a:xfrm>
          <a:prstGeom prst="rect">
            <a:avLst/>
          </a:prstGeom>
        </p:spPr>
      </p:pic>
      <p:pic>
        <p:nvPicPr>
          <p:cNvPr id="89" name="Picture 88" descr="demoday_s07_120_2574300_2574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203" y="1590038"/>
            <a:ext cx="2574300" cy="2574300"/>
          </a:xfrm>
          <a:prstGeom prst="rect">
            <a:avLst/>
          </a:prstGeom>
        </p:spPr>
      </p:pic>
      <p:pic>
        <p:nvPicPr>
          <p:cNvPr id="90" name="Picture 89" descr="living_s47_455_2574300_2574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194" y="1590038"/>
            <a:ext cx="2574300" cy="257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cove by the numbers</a:t>
            </a:r>
            <a:endParaRPr sz="2020"/>
          </a:p>
        </p:txBody>
      </p:sp>
      <p:sp>
        <p:nvSpPr>
          <p:cNvPr id="81" name="TextBox 80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what the finished arm could do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8213" y="1590038"/>
            <a:ext cx="1900000" cy="115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8213" y="1700038"/>
            <a:ext cx="178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8213" y="2270038"/>
            <a:ext cx="17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joints on one CAN bus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11093" y="1590038"/>
            <a:ext cx="1900000" cy="115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71093" y="1700038"/>
            <a:ext cx="178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≈50 Nm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71093" y="2270038"/>
            <a:ext cx="17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working torque budget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8213" y="2922918"/>
            <a:ext cx="1900000" cy="115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8213" y="3032918"/>
            <a:ext cx="178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≈7 kg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213" y="3602918"/>
            <a:ext cx="17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payload at full reach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11093" y="2922918"/>
            <a:ext cx="1900000" cy="115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71093" y="3032918"/>
            <a:ext cx="178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$308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71093" y="3602918"/>
            <a:ext cx="17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aluminum stock for 8 parts</a:t>
            </a:r>
          </a:p>
        </p:txBody>
      </p:sp>
      <p:pic>
        <p:nvPicPr>
          <p:cNvPr id="94" name="Picture 93" descr="demoday_s09_146_3917401_24828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093" y="1590038"/>
            <a:ext cx="3917401" cy="248288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811093" y="4092918"/>
            <a:ext cx="3917401" cy="369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full assembled arm, before wires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cove: electronics</a:t>
            </a:r>
            <a:endParaRPr sz="2020"/>
          </a:p>
        </p:txBody>
      </p:sp>
      <p:sp>
        <p:nvSpPr>
          <p:cNvPr id="84" name="Google Shape;84;p17"/>
          <p:cNvSpPr txBox="1"/>
          <p:nvPr/>
        </p:nvSpPr>
        <p:spPr>
          <a:xfrm>
            <a:off x="52822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7 Damiao actuators with built-in encoders + torque sensing, daisy-chained on CAN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341200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Raspberry Pi host, CAN/UART bridge, hardware e-stop on motor power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15417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24 V power trunk down the arm (XT-60/XT-30), cables routed with slack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one CAN bus, one power rail, one host computer</a:t>
            </a:r>
            <a:endParaRPr sz="1600">
              <a:solidFill>
                <a:srgbClr val="39AFA3"/>
              </a:solidFill>
            </a:endParaRPr>
          </a:p>
        </p:txBody>
      </p:sp>
      <p:pic>
        <p:nvPicPr>
          <p:cNvPr id="88" name="Picture 87" descr="demoday_s13_187_2574300_2574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1590038"/>
            <a:ext cx="2574300" cy="2574300"/>
          </a:xfrm>
          <a:prstGeom prst="rect">
            <a:avLst/>
          </a:prstGeom>
        </p:spPr>
      </p:pic>
      <p:pic>
        <p:nvPicPr>
          <p:cNvPr id="89" name="Picture 88" descr="demoday_s13_188_2574300_2574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203" y="1590038"/>
            <a:ext cx="2574300" cy="2574300"/>
          </a:xfrm>
          <a:prstGeom prst="rect">
            <a:avLst/>
          </a:prstGeom>
        </p:spPr>
      </p:pic>
      <p:pic>
        <p:nvPicPr>
          <p:cNvPr id="90" name="Picture 89" descr="living_s41_413_2574300_2574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194" y="1590038"/>
            <a:ext cx="2574300" cy="2574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cove: software</a:t>
            </a:r>
            <a:endParaRPr sz="2020"/>
          </a:p>
        </p:txBody>
      </p:sp>
      <p:sp>
        <p:nvSpPr>
          <p:cNvPr id="84" name="Google Shape;84;p17"/>
          <p:cNvSpPr txBox="1"/>
          <p:nvPr/>
        </p:nvSpPr>
        <p:spPr>
          <a:xfrm>
            <a:off x="52822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URDF exported from OnShape → RViz + MoveIt2 for IK and joint commands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341200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camera reads AprilTags → target pose → MoveIt2 plans → CAN → motors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15417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electromagnet end effector: no gripper roll to solve, one less thing for IK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ROS 2 on a Raspberry Pi, MoveIt2 for planning, AprilTags to find targets</a:t>
            </a:r>
            <a:endParaRPr sz="1600">
              <a:solidFill>
                <a:srgbClr val="39AFA3"/>
              </a:solidFill>
            </a:endParaRPr>
          </a:p>
        </p:txBody>
      </p:sp>
      <p:pic>
        <p:nvPicPr>
          <p:cNvPr id="88" name="Picture 87" descr="living_s40_401_2574300_2574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1590038"/>
            <a:ext cx="2574300" cy="2574300"/>
          </a:xfrm>
          <a:prstGeom prst="rect">
            <a:avLst/>
          </a:prstGeom>
        </p:spPr>
      </p:pic>
      <p:pic>
        <p:nvPicPr>
          <p:cNvPr id="89" name="Picture 88" descr="living_s53_495_2574300_2574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203" y="1590038"/>
            <a:ext cx="2574300" cy="2574300"/>
          </a:xfrm>
          <a:prstGeom prst="rect">
            <a:avLst/>
          </a:prstGeom>
        </p:spPr>
      </p:pic>
      <p:pic>
        <p:nvPicPr>
          <p:cNvPr id="90" name="Picture 89" descr="demoday_s14_203_2574300_2574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194" y="1590038"/>
            <a:ext cx="2574300" cy="257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cove: the disaster</a:t>
            </a:r>
            <a:endParaRPr sz="2020"/>
          </a:p>
        </p:txBody>
      </p:sp>
      <p:sp>
        <p:nvSpPr>
          <p:cNvPr id="84" name="Google Shape;84;p17"/>
          <p:cNvSpPr txBox="1"/>
          <p:nvPr/>
        </p:nvSpPr>
        <p:spPr>
          <a:xfrm>
            <a:off x="52822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thread that let go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341200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 broken actuators, blown fuses, fried CAN ports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15417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stripped holes at the base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apr 26: the bottom threads failed under load and the arm fell. we rewired and rebuilt it</a:t>
            </a:r>
            <a:endParaRPr sz="1600">
              <a:solidFill>
                <a:srgbClr val="39AFA3"/>
              </a:solidFill>
            </a:endParaRPr>
          </a:p>
        </p:txBody>
      </p:sp>
      <p:pic>
        <p:nvPicPr>
          <p:cNvPr id="88" name="Picture 87" descr="demoday_s10_159_2574300_2574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1590038"/>
            <a:ext cx="2574300" cy="2574300"/>
          </a:xfrm>
          <a:prstGeom prst="rect">
            <a:avLst/>
          </a:prstGeom>
        </p:spPr>
      </p:pic>
      <p:pic>
        <p:nvPicPr>
          <p:cNvPr id="89" name="Picture 88" descr="demoday_s10_160_2574300_2574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203" y="1590038"/>
            <a:ext cx="2574300" cy="2574300"/>
          </a:xfrm>
          <a:prstGeom prst="rect">
            <a:avLst/>
          </a:prstGeom>
        </p:spPr>
      </p:pic>
      <p:pic>
        <p:nvPicPr>
          <p:cNvPr id="90" name="Picture 89" descr="demoday_s10_161_2574300_2574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194" y="1590038"/>
            <a:ext cx="2574300" cy="257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CDC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2242353" y="3400936"/>
            <a:ext cx="5038200" cy="946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/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/>
            </a:r>
            <a:endParaRPr sz="240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-338400" y="1278350"/>
            <a:ext cx="9625200" cy="82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8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flipH="1">
            <a:off x="-1494625" y="1359425"/>
            <a:ext cx="11503200" cy="649800"/>
          </a:xfrm>
          <a:prstGeom prst="snip1Rect">
            <a:avLst>
              <a:gd fmla="val 34491" name="adj"/>
            </a:avLst>
          </a:prstGeom>
          <a:solidFill>
            <a:srgbClr val="177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50">
                <a:solidFill>
                  <a:srgbClr val="177D82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terralabs</a:t>
            </a:r>
            <a:endParaRPr sz="3350">
              <a:solidFill>
                <a:srgbClr val="177D82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3426249" y="522475"/>
            <a:ext cx="2335500" cy="2335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950" lIns="77950" spcFirstLastPara="1" rIns="77950" wrap="square" tIns="77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4">
              <a:solidFill>
                <a:srgbClr val="FFFFFF"/>
              </a:solidFill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6144000" y="1340275"/>
            <a:ext cx="300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fall 2026</a:t>
            </a:r>
            <a:endParaRPr sz="33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-103350" y="1334225"/>
            <a:ext cx="300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tether</a:t>
            </a:r>
            <a:endParaRPr sz="33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165150" y="3311200"/>
            <a:ext cx="5038200" cy="869100"/>
          </a:xfrm>
          <a:prstGeom prst="rect">
            <a:avLst/>
          </a:prstGeom>
          <a:solidFill>
            <a:srgbClr val="177D82"/>
          </a:solidFill>
          <a:ln cap="flat" cmpd="sng" w="28575">
            <a:solidFill>
              <a:srgbClr val="177D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where we're going</a:t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pic>
        <p:nvPicPr>
          <p:cNvPr id="62" name="Google Shape;62;p14" title="Screenshot 2026-06-04 at 5.35.45 PM.png"/>
          <p:cNvPicPr preferRelativeResize="0"/>
          <p:nvPr/>
        </p:nvPicPr>
        <p:blipFill rotWithShape="1">
          <a:blip r:embed="rId3">
            <a:alphaModFix/>
          </a:blip>
          <a:srcRect b="11135" l="10558" r="7212" t="10611"/>
          <a:stretch/>
        </p:blipFill>
        <p:spPr>
          <a:xfrm>
            <a:off x="3759750" y="974075"/>
            <a:ext cx="1693275" cy="14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tether: the idea</a:t>
            </a:r>
            <a:endParaRPr sz="2020"/>
          </a:p>
        </p:txBody>
      </p:sp>
      <p:sp>
        <p:nvSpPr>
          <p:cNvPr id="84" name="Google Shape;84;p17"/>
          <p:cNvSpPr txBox="1"/>
          <p:nvPr/>
        </p:nvSpPr>
        <p:spPr>
          <a:xfrm>
            <a:off x="52822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inspiration: GITAI's IN1, an inchworm arm with grapple end effectors on both ends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341200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no fixed base and no cable to a wall: everything rides on the arm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15417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cove's joint chain is symmetric, so either end can be the base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put a gripper on both ends of cove and let it walk: one end holds on, the other moves</a:t>
            </a:r>
            <a:endParaRPr sz="1600">
              <a:solidFill>
                <a:srgbClr val="39AFA3"/>
              </a:solidFill>
            </a:endParaRPr>
          </a:p>
        </p:txBody>
      </p:sp>
      <p:pic>
        <p:nvPicPr>
          <p:cNvPr id="88" name="Picture 87" descr="demoday_s02_66_2574300_2574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1590038"/>
            <a:ext cx="2574300" cy="2574300"/>
          </a:xfrm>
          <a:prstGeom prst="rect">
            <a:avLst/>
          </a:prstGeom>
        </p:spPr>
      </p:pic>
      <p:pic>
        <p:nvPicPr>
          <p:cNvPr id="89" name="Picture 88" descr="living_s09_162_2574300_2574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194" y="1590038"/>
            <a:ext cx="2574300" cy="2574300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3341203" y="1590038"/>
            <a:ext cx="2574300" cy="2574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541203" y="1820038"/>
            <a:ext cx="380000" cy="380000"/>
          </a:xfrm>
          <a:prstGeom prst="ellipse">
            <a:avLst/>
          </a:prstGeom>
          <a:solidFill>
            <a:srgbClr val="18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21203" y="1820038"/>
            <a:ext cx="179430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 holds on, B swings forward</a:t>
            </a:r>
          </a:p>
        </p:txBody>
      </p:sp>
      <p:sp>
        <p:nvSpPr>
          <p:cNvPr id="93" name="Oval 92"/>
          <p:cNvSpPr/>
          <p:nvPr/>
        </p:nvSpPr>
        <p:spPr>
          <a:xfrm>
            <a:off x="3541203" y="2380038"/>
            <a:ext cx="380000" cy="380000"/>
          </a:xfrm>
          <a:prstGeom prst="ellipse">
            <a:avLst/>
          </a:prstGeom>
          <a:solidFill>
            <a:srgbClr val="18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21203" y="2380038"/>
            <a:ext cx="179430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 grabs the next spot</a:t>
            </a:r>
          </a:p>
        </p:txBody>
      </p:sp>
      <p:sp>
        <p:nvSpPr>
          <p:cNvPr id="95" name="Oval 94"/>
          <p:cNvSpPr/>
          <p:nvPr/>
        </p:nvSpPr>
        <p:spPr>
          <a:xfrm>
            <a:off x="3541203" y="2940038"/>
            <a:ext cx="380000" cy="380000"/>
          </a:xfrm>
          <a:prstGeom prst="ellipse">
            <a:avLst/>
          </a:prstGeom>
          <a:solidFill>
            <a:srgbClr val="18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21203" y="2940038"/>
            <a:ext cx="179430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 lets go</a:t>
            </a:r>
          </a:p>
        </p:txBody>
      </p:sp>
      <p:sp>
        <p:nvSpPr>
          <p:cNvPr id="97" name="Oval 96"/>
          <p:cNvSpPr/>
          <p:nvPr/>
        </p:nvSpPr>
        <p:spPr>
          <a:xfrm>
            <a:off x="3541203" y="3500038"/>
            <a:ext cx="380000" cy="380000"/>
          </a:xfrm>
          <a:prstGeom prst="ellipse">
            <a:avLst/>
          </a:prstGeom>
          <a:solidFill>
            <a:srgbClr val="18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1203" y="3500038"/>
            <a:ext cx="179430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 swings forward, repeat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what changes from cove</a:t>
            </a:r>
            <a:endParaRPr>
              <a:solidFill>
                <a:srgbClr val="187C80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528213" y="1190600"/>
          <a:ext cx="8200281" cy="3060000"/>
        </p:xfrm>
        <a:graphic>
          <a:graphicData uri="http://schemas.openxmlformats.org/drawingml/2006/table">
            <a:tbl>
              <a:tblPr/>
              <a:tblGrid>
                <a:gridCol w="1700000"/>
                <a:gridCol w="3150000"/>
                <a:gridCol w="3350281"/>
              </a:tblGrid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/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187C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cove (spring)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187C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tether (fall)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187C80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base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bolted to a base plate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none: either end can anchor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end effectors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electromagnet on one end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a gripper on both ends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power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24 V, 240 A bench supply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onboard battery + BMS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wiring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cables with slack, rotation limited by wiring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slip rings or managed cable winding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compute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Pi on the arm, visuals on a laptop over SSH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onboard, in a closed package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the task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pour a wine bottle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7C80"/>
                          </a:solidFill>
                          <a:latin typeface="Instrument Sans Medium"/>
                          <a:ea typeface="Instrument Sans Medium"/>
                          <a:cs typeface="Instrument Sans Medium"/>
                          <a:sym typeface="Instrument Sans Medium"/>
                        </a:rPr>
                        <a:t>walk, climb, and still manipulate</a:t>
                      </a:r>
                    </a:p>
                  </a:txBody>
                  <a:tcPr marL="91425" marR="91425" marT="45000" marB="45000" anchor="ctr">
                    <a:lnL w="28575" cap="flat" cmpd="sng">
                      <a:solidFill>
                        <a:srgbClr val="39AFA3"/>
                      </a:solidFill>
                      <a:prstDash val="solid"/>
                    </a:lnL>
                    <a:lnR w="28575" cap="flat" cmpd="sng">
                      <a:solidFill>
                        <a:srgbClr val="39AFA3"/>
                      </a:solidFill>
                      <a:prstDash val="solid"/>
                    </a:lnR>
                    <a:lnT w="28575" cap="flat" cmpd="sng">
                      <a:solidFill>
                        <a:srgbClr val="39AFA3"/>
                      </a:solidFill>
                      <a:prstDash val="solid"/>
                    </a:lnT>
                    <a:lnB w="28575" cap="flat" cmpd="sng">
                      <a:solidFill>
                        <a:srgbClr val="39AF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426685" y="4310600"/>
            <a:ext cx="83019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tether column is the plan, and most of it is still open. that is what this team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what's already built in software</a:t>
            </a:r>
            <a:endParaRPr sz="2020"/>
          </a:p>
        </p:txBody>
      </p:sp>
      <p:sp>
        <p:nvSpPr>
          <p:cNvPr id="81" name="TextBox 80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COVE2 Robot Studio: test the design in a browser before we cut metal</a:t>
            </a:r>
          </a:p>
        </p:txBody>
      </p:sp>
      <p:pic>
        <p:nvPicPr>
          <p:cNvPr id="82" name="Picture 81" descr="sim_ui_full_5500000_3093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1590038"/>
            <a:ext cx="5500000" cy="309375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28213" y="4703788"/>
            <a:ext cx="5500000" cy="3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motion replay: inchworm climbing the ladder, every frame collision checked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78213" y="1550038"/>
            <a:ext cx="2450281" cy="3093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works today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editor built on cove's real URDF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two-ended FK/IK: drive either end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PyBullet collision checks on every motion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motion search: walk → ladder, table loop, task programs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not yet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trained RL (the RL worker is a test harness)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contact, friction, and torque limits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collision geometry checked against the real arm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three ways to route wires through the joints</a:t>
            </a:r>
            <a:endParaRPr sz="2020"/>
          </a:p>
        </p:txBody>
      </p:sp>
      <p:sp>
        <p:nvSpPr>
          <p:cNvPr id="84" name="Google Shape;84;p17"/>
          <p:cNvSpPr txBox="1"/>
          <p:nvPr/>
        </p:nvSpPr>
        <p:spPr>
          <a:xfrm>
            <a:off x="52822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inchworm (slip rings): walked 1.08 m, climbed all 5 rungs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341200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cable 360 (±360° joints): hit the twist limit before the ladder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154175" y="4212213"/>
            <a:ext cx="25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existing (cove as built): J4 hit its 145° limit at the ladder</a:t>
            </a:r>
            <a:endParaRPr sz="1200">
              <a:solidFill>
                <a:srgbClr val="39AFA3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same motions in the sim: only inchworm climbed the ladder and closed the table loop</a:t>
            </a:r>
            <a:endParaRPr sz="1600">
              <a:solidFill>
                <a:srgbClr val="39AFA3"/>
              </a:solidFill>
            </a:endParaRPr>
          </a:p>
        </p:txBody>
      </p:sp>
      <p:pic>
        <p:nvPicPr>
          <p:cNvPr id="88" name="Picture 87" descr="sim_inch_ladder_2574300_2574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1590038"/>
            <a:ext cx="2574300" cy="2574300"/>
          </a:xfrm>
          <a:prstGeom prst="rect">
            <a:avLst/>
          </a:prstGeom>
        </p:spPr>
      </p:pic>
      <p:pic>
        <p:nvPicPr>
          <p:cNvPr id="89" name="Picture 88" descr="sim_cable_ladder_2574300_2574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203" y="1590038"/>
            <a:ext cx="2574300" cy="2574300"/>
          </a:xfrm>
          <a:prstGeom prst="rect">
            <a:avLst/>
          </a:prstGeom>
        </p:spPr>
      </p:pic>
      <p:pic>
        <p:nvPicPr>
          <p:cNvPr id="90" name="Picture 89" descr="sim_exist_ladder_2574300_2574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194" y="1590038"/>
            <a:ext cx="2574300" cy="257430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26685" y="4800000"/>
            <a:ext cx="83019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from today's run of the repo sim on cove's URDF, with an assumed ±0.5-turn cable budget. not validated against hardware yet.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roadmap (draft)</a:t>
            </a:r>
            <a:endParaRPr sz="2020"/>
          </a:p>
        </p:txBody>
      </p:sp>
      <p:sp>
        <p:nvSpPr>
          <p:cNvPr id="81" name="TextBox 80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software de-risks the design while hardware bench tests the parts, then they meet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8213" y="1560000"/>
            <a:ext cx="110000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software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78213" y="1560000"/>
            <a:ext cx="1180000" cy="82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28213" y="1600000"/>
            <a:ext cx="1080000" cy="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model freeze: audit cove vs URDF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48213" y="1560000"/>
            <a:ext cx="1180000" cy="820000"/>
          </a:xfrm>
          <a:prstGeom prst="rect">
            <a:avLst/>
          </a:prstGeom>
          <a:solidFill>
            <a:srgbClr val="187C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98213" y="1600000"/>
            <a:ext cx="1080000" cy="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kinematic feasibility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18213" y="1560000"/>
            <a:ext cx="1180000" cy="820000"/>
          </a:xfrm>
          <a:prstGeom prst="rect">
            <a:avLst/>
          </a:prstGeom>
          <a:solidFill>
            <a:srgbClr val="39AF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68213" y="1600000"/>
            <a:ext cx="1080000" cy="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scripted dynamics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8213" y="1560000"/>
            <a:ext cx="1180000" cy="82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38213" y="1600000"/>
            <a:ext cx="1080000" cy="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contact + RL robustness</a:t>
            </a:r>
          </a:p>
        </p:txBody>
      </p:sp>
      <p:sp>
        <p:nvSpPr>
          <p:cNvPr id="91" name="Chevron 90"/>
          <p:cNvSpPr/>
          <p:nvPr/>
        </p:nvSpPr>
        <p:spPr>
          <a:xfrm>
            <a:off x="6728213" y="1860000"/>
            <a:ext cx="220000" cy="220000"/>
          </a:xfrm>
          <a:prstGeom prst="chevron">
            <a:avLst/>
          </a:prstGeom>
          <a:solidFill>
            <a:srgbClr val="39AF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8213" y="2580000"/>
            <a:ext cx="110000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hardware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78213" y="2580000"/>
            <a:ext cx="1180000" cy="82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28213" y="2620000"/>
            <a:ext cx="1080000" cy="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gripper pull-off test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948213" y="2580000"/>
            <a:ext cx="1180000" cy="82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98213" y="2620000"/>
            <a:ext cx="1080000" cy="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battery + BMS bench test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18213" y="2580000"/>
            <a:ext cx="1180000" cy="82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68213" y="2620000"/>
            <a:ext cx="1080000" cy="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slip ring / cable rotation test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8213" y="2580000"/>
            <a:ext cx="1180000" cy="82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538213" y="2620000"/>
            <a:ext cx="1080000" cy="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compute thermals + motor watchdogs</a:t>
            </a:r>
          </a:p>
        </p:txBody>
      </p:sp>
      <p:sp>
        <p:nvSpPr>
          <p:cNvPr id="101" name="Chevron 100"/>
          <p:cNvSpPr/>
          <p:nvPr/>
        </p:nvSpPr>
        <p:spPr>
          <a:xfrm>
            <a:off x="6728213" y="2880000"/>
            <a:ext cx="220000" cy="220000"/>
          </a:xfrm>
          <a:prstGeom prst="chevron">
            <a:avLst/>
          </a:prstGeom>
          <a:solidFill>
            <a:srgbClr val="39AF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058213" y="1560000"/>
            <a:ext cx="1670281" cy="1840000"/>
          </a:xfrm>
          <a:prstGeom prst="rect">
            <a:avLst/>
          </a:prstGeom>
          <a:solidFill>
            <a:srgbClr val="187C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28213" y="1660000"/>
            <a:ext cx="1530281" cy="1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G5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integrated locomotion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first supported steps on the real robot, compared against the sim logs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678213" y="3640000"/>
            <a:ext cx="160000" cy="160000"/>
          </a:xfrm>
          <a:prstGeom prst="rect">
            <a:avLst/>
          </a:prstGeom>
          <a:solidFill>
            <a:srgbClr val="187C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98213" y="3600000"/>
            <a:ext cx="11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done in sim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028213" y="3640000"/>
            <a:ext cx="160000" cy="160000"/>
          </a:xfrm>
          <a:prstGeom prst="rect">
            <a:avLst/>
          </a:prstGeom>
          <a:solidFill>
            <a:srgbClr val="39AF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48213" y="3600000"/>
            <a:ext cx="11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started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378213" y="3640000"/>
            <a:ext cx="160000" cy="160000"/>
          </a:xfrm>
          <a:prstGeom prst="rect">
            <a:avLst/>
          </a:prstGeom>
          <a:solidFill>
            <a:srgbClr val="F3F3F3"/>
          </a:solidFill>
          <a:ln>
            <a:solidFill>
              <a:srgbClr val="187C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98213" y="3600000"/>
            <a:ext cx="11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next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6685" y="3930000"/>
            <a:ext cx="83019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rough timing: G0 + G2 in the first month, G3 and the G4 bench tests mid-semester, first G5 steps by the end. we set real dates together.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15425" y="561988"/>
            <a:ext cx="83019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big open questions</a:t>
            </a:r>
            <a:endParaRPr sz="2020"/>
          </a:p>
        </p:txBody>
      </p:sp>
      <p:sp>
        <p:nvSpPr>
          <p:cNvPr id="81" name="TextBox 80"/>
          <p:cNvSpPr txBox="1"/>
          <p:nvPr/>
        </p:nvSpPr>
        <p:spPr>
          <a:xfrm>
            <a:off x="426685" y="901439"/>
            <a:ext cx="8301900" cy="431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problems this team gets to solve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8213" y="1500000"/>
            <a:ext cx="2611507" cy="133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8213" y="1580000"/>
            <a:ext cx="2431507" cy="1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39AFA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the grippers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what do both ends grab, and how hard? rungs, table edges, scaffold members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22600" y="1500000"/>
            <a:ext cx="2611507" cy="133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12600" y="1580000"/>
            <a:ext cx="2431507" cy="1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39AFA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wires through joints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slip rings or managed cable winding. the sim already says this decides what motions are possible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16987" y="1500000"/>
            <a:ext cx="2611507" cy="133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06987" y="1580000"/>
            <a:ext cx="2431507" cy="1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39AFA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power on board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 battery + BMS riding on the arm, and the weight that comes with it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8213" y="3012880"/>
            <a:ext cx="2611507" cy="133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8213" y="3092880"/>
            <a:ext cx="2431507" cy="1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39AFA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lifting itself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cove held a payload off a fixed base. tether holds up its own body from either end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22600" y="3012880"/>
            <a:ext cx="2611507" cy="133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12600" y="3092880"/>
            <a:ext cx="2431507" cy="1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39AFA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compute on board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 Pi in a closed package: heat, comms, watchdogs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16987" y="3012880"/>
            <a:ext cx="2611507" cy="133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06987" y="3092880"/>
            <a:ext cx="2431507" cy="1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39AFA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sim to real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87C8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URDF isn't hardware truth yet. audit cove, then trust the sim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9920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where we are</a:t>
            </a:r>
            <a:endParaRPr>
              <a:solidFill>
                <a:srgbClr val="187C80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488888"/>
            <a:ext cx="8520600" cy="17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cove is built and moves. tether exists in the sim: on cove's model it can plan a collision-free walk, a ladder climb, and a loop around a table. nothing physical for tether exists yet. that's this semester.</a:t>
            </a:r>
            <a:endParaRPr>
              <a:solidFill>
                <a:srgbClr val="39AFA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7C80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7C80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7C80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7C80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9AFA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311700" y="3689738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9AFA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first two weeks: everyone gets the sim running, hardware audits cove against the URDF (G0), and we pick gripper concepts to bench test.</a:t>
            </a:r>
            <a:endParaRPr sz="1800">
              <a:solidFill>
                <a:srgbClr val="39AFA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3239088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87C8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what’s next</a:t>
            </a:r>
            <a:endParaRPr sz="2500">
              <a:solidFill>
                <a:srgbClr val="187C80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CDC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2242353" y="3400936"/>
            <a:ext cx="5038200" cy="946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/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/>
            </a:r>
            <a:endParaRPr sz="240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-338400" y="1278350"/>
            <a:ext cx="9625200" cy="82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8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flipH="1">
            <a:off x="-1494625" y="1359425"/>
            <a:ext cx="11503200" cy="649800"/>
          </a:xfrm>
          <a:prstGeom prst="snip1Rect">
            <a:avLst>
              <a:gd fmla="val 34491" name="adj"/>
            </a:avLst>
          </a:prstGeom>
          <a:solidFill>
            <a:srgbClr val="177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50">
                <a:solidFill>
                  <a:srgbClr val="177D82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terralabs</a:t>
            </a:r>
            <a:endParaRPr sz="3350">
              <a:solidFill>
                <a:srgbClr val="177D82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3426249" y="522475"/>
            <a:ext cx="2335500" cy="2335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950" lIns="77950" spcFirstLastPara="1" rIns="77950" wrap="square" tIns="77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4">
              <a:solidFill>
                <a:srgbClr val="FFFFFF"/>
              </a:solidFill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6144000" y="1340275"/>
            <a:ext cx="300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terra labs</a:t>
            </a:r>
            <a:endParaRPr sz="33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-103350" y="1334225"/>
            <a:ext cx="300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terra labs</a:t>
            </a:r>
            <a:endParaRPr sz="33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165150" y="3311200"/>
            <a:ext cx="5038200" cy="869100"/>
          </a:xfrm>
          <a:prstGeom prst="rect">
            <a:avLst/>
          </a:prstGeom>
          <a:solidFill>
            <a:srgbClr val="177D82"/>
          </a:solidFill>
          <a:ln cap="flat" cmpd="sng" w="28575">
            <a:solidFill>
              <a:srgbClr val="177D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5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questions?</a:t>
            </a:r>
            <a:endParaRPr sz="2550">
              <a:solidFill>
                <a:schemeClr val="lt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pic>
        <p:nvPicPr>
          <p:cNvPr id="62" name="Google Shape;62;p14" title="Screenshot 2026-06-04 at 5.35.45 PM.png"/>
          <p:cNvPicPr preferRelativeResize="0"/>
          <p:nvPr/>
        </p:nvPicPr>
        <p:blipFill rotWithShape="1">
          <a:blip r:embed="rId3">
            <a:alphaModFix/>
          </a:blip>
          <a:srcRect b="11135" l="10558" r="7212" t="10611"/>
          <a:stretch/>
        </p:blipFill>
        <p:spPr>
          <a:xfrm>
            <a:off x="3759750" y="974075"/>
            <a:ext cx="1693275" cy="14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